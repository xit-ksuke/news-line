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62626"/>
                </a:solidFill>
                <a:latin typeface="Meiryo"/>
                <a:ea typeface="Meiryo"/>
              </a:rPr>
              <a:t>システム構成図 — LINEニュース配信ボット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965960" y="868680"/>
            <a:ext cx="3886200" cy="5623560"/>
          </a:xfrm>
          <a:prstGeom prst="roundRect">
            <a:avLst/>
          </a:prstGeom>
          <a:solidFill>
            <a:srgbClr val="EFF3F7"/>
          </a:solidFill>
          <a:ln w="15875">
            <a:solidFill>
              <a:srgbClr val="9DB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8100" bIns="38100"/>
          <a:lstStyle/>
          <a:p>
            <a:pPr algn="ctr"/>
            <a:r>
              <a:rPr sz="1300" b="1">
                <a:solidFill>
                  <a:srgbClr val="262626"/>
                </a:solidFill>
                <a:latin typeface="Meiryo"/>
                <a:ea typeface="Meiryo"/>
              </a:rPr>
              <a:t>GitHub（クラウド）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12848" y="1444752"/>
            <a:ext cx="3392424" cy="65836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リポジトリ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news_bot.py / workflow.yml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12848" y="2212848"/>
            <a:ext cx="3392424" cy="566928"/>
          </a:xfrm>
          <a:prstGeom prst="roundRect">
            <a:avLst/>
          </a:prstGeom>
          <a:solidFill>
            <a:srgbClr val="FFF2CC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Secrets（APIキー保管）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12848" y="2834640"/>
            <a:ext cx="33924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03020"/>
                </a:solidFill>
                <a:latin typeface="Meiryo"/>
                <a:ea typeface="Meiryo"/>
              </a:rPr>
              <a:t>毎日3回：07:00 / 12:00 / 18:00 JST（cron起動）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12848" y="3163824"/>
            <a:ext cx="3392424" cy="3127248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8100" bIns="38100"/>
          <a:lstStyle/>
          <a:p>
            <a:pPr algn="ctr"/>
            <a:r>
              <a:rPr sz="1200" b="1">
                <a:solidFill>
                  <a:srgbClr val="262626"/>
                </a:solidFill>
                <a:latin typeface="Meiryo"/>
                <a:ea typeface="Meiryo"/>
              </a:rPr>
              <a:t>GitHub Actions（実行環境）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Meiryo"/>
                <a:ea typeface="Meiryo"/>
              </a:rPr>
              <a:t>news_bot.py を実行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Meiryo"/>
                <a:ea typeface="Meiryo"/>
              </a:rPr>
              <a:t/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Meiryo"/>
                <a:ea typeface="Meiryo"/>
              </a:rPr>
              <a:t>① 記事取得（RSS）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Meiryo"/>
                <a:ea typeface="Meiryo"/>
              </a:rPr>
              <a:t>② 選定・要約（Groq）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Meiryo"/>
                <a:ea typeface="Meiryo"/>
              </a:rPr>
              <a:t>③ 整形 → push（LINE）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3246120"/>
            <a:ext cx="1508760" cy="105156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開発者PC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（ローカル）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25880"/>
            <a:ext cx="2606040" cy="1188720"/>
          </a:xfrm>
          <a:prstGeom prst="roundRect">
            <a:avLst/>
          </a:prstGeom>
          <a:solidFill>
            <a:srgbClr val="E2EFDA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RSS配信元（複数）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NHK / ITmedia / はてブ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GIGAZINE / Google News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834640"/>
            <a:ext cx="2606040" cy="1188720"/>
          </a:xfrm>
          <a:prstGeom prst="roundRect">
            <a:avLst/>
          </a:prstGeom>
          <a:solidFill>
            <a:srgbClr val="E4DFEC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Groq API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LLM：記事選定・要約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llama-3.3-70b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2606040" cy="1188720"/>
          </a:xfrm>
          <a:prstGeom prst="roundRect">
            <a:avLst/>
          </a:prstGeom>
          <a:solidFill>
            <a:srgbClr val="C6EFCE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LINE Platform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Messaging API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（push配信）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89720" y="4343400"/>
            <a:ext cx="2651760" cy="118872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200" b="1">
                <a:solidFill>
                  <a:srgbClr val="262626"/>
                </a:solidFill>
                <a:latin typeface="Meiryo"/>
                <a:ea typeface="Meiryo"/>
              </a:rPr>
              <a:t>スマホ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Meiryo"/>
                <a:ea typeface="Meiryo"/>
              </a:rPr>
              <a:t>LINEアプリ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5715000"/>
            <a:ext cx="265176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200" b="1">
                <a:solidFill>
                  <a:srgbClr val="262626"/>
                </a:solidFill>
                <a:latin typeface="Meiryo"/>
                <a:ea typeface="Meiryo"/>
              </a:rPr>
              <a:t>自分（利用者）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1691640" y="1810512"/>
            <a:ext cx="521208" cy="1801368"/>
          </a:xfrm>
          <a:prstGeom prst="line">
            <a:avLst/>
          </a:prstGeom>
          <a:ln w="22225">
            <a:solidFill>
              <a:srgbClr val="5B5B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2920" y="23317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03020"/>
                </a:solidFill>
                <a:latin typeface="Meiryo"/>
                <a:ea typeface="Meiryo"/>
              </a:rPr>
              <a:t>git push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913632" y="2779776"/>
            <a:ext cx="0" cy="384048"/>
          </a:xfrm>
          <a:prstGeom prst="line">
            <a:avLst/>
          </a:prstGeom>
          <a:ln w="22225">
            <a:solidFill>
              <a:srgbClr val="BF8F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605272" y="1965960"/>
            <a:ext cx="612648" cy="146304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40680" y="23317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03020"/>
                </a:solidFill>
                <a:latin typeface="Meiryo"/>
                <a:ea typeface="Meiryo"/>
              </a:rPr>
              <a:t>①取得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605272" y="3456432"/>
            <a:ext cx="612648" cy="338328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40680" y="38404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03020"/>
                </a:solidFill>
                <a:latin typeface="Meiryo"/>
                <a:ea typeface="Meiryo"/>
              </a:rPr>
              <a:t>②選定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05272" y="4754880"/>
            <a:ext cx="612648" cy="18288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40680" y="50749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03020"/>
                </a:solidFill>
                <a:latin typeface="Meiryo"/>
                <a:ea typeface="Meiryo"/>
              </a:rPr>
              <a:t>③push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823960" y="4937760"/>
            <a:ext cx="36576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503920" y="45262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03020"/>
                </a:solidFill>
                <a:latin typeface="Meiryo"/>
                <a:ea typeface="Meiryo"/>
              </a:rPr>
              <a:t>④配信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515600" y="5532120"/>
            <a:ext cx="0" cy="18288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74320" y="6419088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Meiryo"/>
                <a:ea typeface="Meiryo"/>
              </a:rPr>
              <a:t>※ 配信は一方向の push（Webhook 受信は不要） ／ 実行の起点は GitHub 上の cron ／ PC の常時起動は不要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