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1161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62626"/>
                </a:solidFill>
                <a:latin typeface="Meiryo"/>
                <a:ea typeface="Meiryo"/>
              </a:rPr>
              <a:t>システム構成図 — LINEニュース配信ボット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965960" y="868680"/>
            <a:ext cx="3886200" cy="5623560"/>
          </a:xfrm>
          <a:prstGeom prst="roundRect">
            <a:avLst/>
          </a:prstGeom>
          <a:solidFill>
            <a:srgbClr val="EFF3F7"/>
          </a:solidFill>
          <a:ln w="15875">
            <a:solidFill>
              <a:srgbClr val="9DB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8100" bIns="38100"/>
          <a:lstStyle/>
          <a:p>
            <a:pPr algn="ctr"/>
            <a:r>
              <a:rPr sz="1300" b="1">
                <a:solidFill>
                  <a:srgbClr val="262626"/>
                </a:solidFill>
                <a:latin typeface="Meiryo"/>
                <a:ea typeface="Meiryo"/>
              </a:rPr>
              <a:t>GitHub（クラウド）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12848" y="1444752"/>
            <a:ext cx="3392424" cy="62179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/>
          <a:lstStyle/>
          <a:p>
            <a:pPr algn="ctr"/>
            <a:r>
              <a:rPr sz="1100" b="1">
                <a:solidFill>
                  <a:srgbClr val="262626"/>
                </a:solidFill>
                <a:latin typeface="Meiryo"/>
                <a:ea typeface="Meiryo"/>
              </a:rPr>
              <a:t>リポジトリ</a:t>
            </a:r>
          </a:p>
          <a:p>
            <a:pPr algn="ctr"/>
            <a:r>
              <a:rPr sz="950" b="0">
                <a:solidFill>
                  <a:srgbClr val="262626"/>
                </a:solidFill>
                <a:latin typeface="Meiryo"/>
                <a:ea typeface="Meiryo"/>
              </a:rPr>
              <a:t>news_bot.py / workflow.yml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12848" y="2176272"/>
            <a:ext cx="3392424" cy="548640"/>
          </a:xfrm>
          <a:prstGeom prst="roundRect">
            <a:avLst/>
          </a:prstGeom>
          <a:solidFill>
            <a:srgbClr val="FFF2CC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/>
          <a:lstStyle/>
          <a:p>
            <a:pPr algn="ctr"/>
            <a:r>
              <a:rPr sz="1100" b="1">
                <a:solidFill>
                  <a:srgbClr val="262626"/>
                </a:solidFill>
                <a:latin typeface="Meiryo"/>
                <a:ea typeface="Meiryo"/>
              </a:rPr>
              <a:t>Secrets（APIキー保管）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12848" y="2944368"/>
            <a:ext cx="3392424" cy="3346704"/>
          </a:xfrm>
          <a:prstGeom prst="roundRect">
            <a:avLst/>
          </a:prstGeom>
          <a:solidFill>
            <a:srgbClr val="DEEBF7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8100" bIns="38100"/>
          <a:lstStyle/>
          <a:p>
            <a:pPr algn="ctr"/>
            <a:r>
              <a:rPr sz="1100" b="1">
                <a:solidFill>
                  <a:srgbClr val="262626"/>
                </a:solidFill>
                <a:latin typeface="Meiryo"/>
                <a:ea typeface="Meiryo"/>
              </a:rPr>
              <a:t>GitHub Actions（実行環境）</a:t>
            </a:r>
          </a:p>
          <a:p>
            <a:pPr algn="ctr"/>
            <a:r>
              <a:rPr sz="950" b="0">
                <a:solidFill>
                  <a:srgbClr val="262626"/>
                </a:solidFill>
                <a:latin typeface="Meiryo"/>
                <a:ea typeface="Meiryo"/>
              </a:rPr>
              <a:t>workflow_dispatch で起動</a:t>
            </a:r>
          </a:p>
          <a:p>
            <a:pPr algn="ctr"/>
            <a:r>
              <a:rPr sz="950" b="0">
                <a:solidFill>
                  <a:srgbClr val="262626"/>
                </a:solidFill>
                <a:latin typeface="Meiryo"/>
                <a:ea typeface="Meiryo"/>
              </a:rPr>
              <a:t>news_bot.py を実行</a:t>
            </a:r>
          </a:p>
          <a:p>
            <a:pPr algn="ctr"/>
            <a:r>
              <a:rPr sz="950" b="0">
                <a:solidFill>
                  <a:srgbClr val="262626"/>
                </a:solidFill>
                <a:latin typeface="Meiryo"/>
                <a:ea typeface="Meiryo"/>
              </a:rPr>
              <a:t/>
            </a:r>
          </a:p>
          <a:p>
            <a:pPr algn="ctr"/>
            <a:r>
              <a:rPr sz="950" b="0">
                <a:solidFill>
                  <a:srgbClr val="262626"/>
                </a:solidFill>
                <a:latin typeface="Meiryo"/>
                <a:ea typeface="Meiryo"/>
              </a:rPr>
              <a:t>① 記事取得（RSS）</a:t>
            </a:r>
          </a:p>
          <a:p>
            <a:pPr algn="ctr"/>
            <a:r>
              <a:rPr sz="950" b="0">
                <a:solidFill>
                  <a:srgbClr val="262626"/>
                </a:solidFill>
                <a:latin typeface="Meiryo"/>
                <a:ea typeface="Meiryo"/>
              </a:rPr>
              <a:t>② 選定・要約（Groq）</a:t>
            </a:r>
          </a:p>
          <a:p>
            <a:pPr algn="ctr"/>
            <a:r>
              <a:rPr sz="950" b="0">
                <a:solidFill>
                  <a:srgbClr val="262626"/>
                </a:solidFill>
                <a:latin typeface="Meiryo"/>
                <a:ea typeface="Meiryo"/>
              </a:rPr>
              <a:t>③ 整形 → push（LINE）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" y="1234440"/>
            <a:ext cx="1737360" cy="86868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/>
          <a:lstStyle/>
          <a:p>
            <a:pPr algn="ctr"/>
            <a:r>
              <a:rPr sz="1100" b="1">
                <a:solidFill>
                  <a:srgbClr val="262626"/>
                </a:solidFill>
                <a:latin typeface="Meiryo"/>
                <a:ea typeface="Meiryo"/>
              </a:rPr>
              <a:t>開発者PC</a:t>
            </a:r>
          </a:p>
          <a:p>
            <a:pPr algn="ctr"/>
            <a:r>
              <a:rPr sz="950" b="0">
                <a:solidFill>
                  <a:srgbClr val="262626"/>
                </a:solidFill>
                <a:latin typeface="Meiryo"/>
                <a:ea typeface="Meiryo"/>
              </a:rPr>
              <a:t>（ローカル）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" y="3383280"/>
            <a:ext cx="1737360" cy="1508760"/>
          </a:xfrm>
          <a:prstGeom prst="roundRect">
            <a:avLst/>
          </a:prstGeom>
          <a:solidFill>
            <a:srgbClr val="FCE4D6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/>
          <a:lstStyle/>
          <a:p>
            <a:pPr algn="ctr"/>
            <a:r>
              <a:rPr sz="1000" b="1">
                <a:solidFill>
                  <a:srgbClr val="262626"/>
                </a:solidFill>
                <a:latin typeface="Meiryo"/>
                <a:ea typeface="Meiryo"/>
              </a:rPr>
              <a:t>cron-job.org</a:t>
            </a:r>
          </a:p>
          <a:p>
            <a:pPr algn="ctr"/>
            <a:r>
              <a:rPr sz="850" b="0">
                <a:solidFill>
                  <a:srgbClr val="262626"/>
                </a:solidFill>
                <a:latin typeface="Meiryo"/>
                <a:ea typeface="Meiryo"/>
              </a:rPr>
              <a:t>（外部スケジューラ）</a:t>
            </a:r>
          </a:p>
          <a:p>
            <a:pPr algn="ctr"/>
            <a:r>
              <a:rPr sz="850" b="0">
                <a:solidFill>
                  <a:srgbClr val="262626"/>
                </a:solidFill>
                <a:latin typeface="Meiryo"/>
                <a:ea typeface="Meiryo"/>
              </a:rPr>
              <a:t/>
            </a:r>
          </a:p>
          <a:p>
            <a:pPr algn="ctr"/>
            <a:r>
              <a:rPr sz="850" b="0">
                <a:solidFill>
                  <a:srgbClr val="262626"/>
                </a:solidFill>
                <a:latin typeface="Meiryo"/>
                <a:ea typeface="Meiryo"/>
              </a:rPr>
              <a:t>07:30 / 12:00</a:t>
            </a:r>
          </a:p>
          <a:p>
            <a:pPr algn="ctr"/>
            <a:r>
              <a:rPr sz="850" b="0">
                <a:solidFill>
                  <a:srgbClr val="262626"/>
                </a:solidFill>
                <a:latin typeface="Meiryo"/>
                <a:ea typeface="Meiryo"/>
              </a:rPr>
              <a:t>17:50 JST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25880"/>
            <a:ext cx="2606040" cy="1188720"/>
          </a:xfrm>
          <a:prstGeom prst="roundRect">
            <a:avLst/>
          </a:prstGeom>
          <a:solidFill>
            <a:srgbClr val="E2EFDA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/>
          <a:lstStyle/>
          <a:p>
            <a:pPr algn="ctr"/>
            <a:r>
              <a:rPr sz="1100" b="1">
                <a:solidFill>
                  <a:srgbClr val="262626"/>
                </a:solidFill>
                <a:latin typeface="Meiryo"/>
                <a:ea typeface="Meiryo"/>
              </a:rPr>
              <a:t>RSS配信元（複数）</a:t>
            </a:r>
          </a:p>
          <a:p>
            <a:pPr algn="ctr"/>
            <a:r>
              <a:rPr sz="950" b="0">
                <a:solidFill>
                  <a:srgbClr val="262626"/>
                </a:solidFill>
                <a:latin typeface="Meiryo"/>
                <a:ea typeface="Meiryo"/>
              </a:rPr>
              <a:t>NHK / ITmedia / はてブ</a:t>
            </a:r>
          </a:p>
          <a:p>
            <a:pPr algn="ctr"/>
            <a:r>
              <a:rPr sz="950" b="0">
                <a:solidFill>
                  <a:srgbClr val="262626"/>
                </a:solidFill>
                <a:latin typeface="Meiryo"/>
                <a:ea typeface="Meiryo"/>
              </a:rPr>
              <a:t>GIGAZINE / Google News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834640"/>
            <a:ext cx="2606040" cy="1188720"/>
          </a:xfrm>
          <a:prstGeom prst="roundRect">
            <a:avLst/>
          </a:prstGeom>
          <a:solidFill>
            <a:srgbClr val="E4DFEC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/>
          <a:lstStyle/>
          <a:p>
            <a:pPr algn="ctr"/>
            <a:r>
              <a:rPr sz="1100" b="1">
                <a:solidFill>
                  <a:srgbClr val="262626"/>
                </a:solidFill>
                <a:latin typeface="Meiryo"/>
                <a:ea typeface="Meiryo"/>
              </a:rPr>
              <a:t>Groq API</a:t>
            </a:r>
          </a:p>
          <a:p>
            <a:pPr algn="ctr"/>
            <a:r>
              <a:rPr sz="950" b="0">
                <a:solidFill>
                  <a:srgbClr val="262626"/>
                </a:solidFill>
                <a:latin typeface="Meiryo"/>
                <a:ea typeface="Meiryo"/>
              </a:rPr>
              <a:t>LLM：記事選定・要約</a:t>
            </a:r>
          </a:p>
          <a:p>
            <a:pPr algn="ctr"/>
            <a:r>
              <a:rPr sz="950" b="0">
                <a:solidFill>
                  <a:srgbClr val="262626"/>
                </a:solidFill>
                <a:latin typeface="Meiryo"/>
                <a:ea typeface="Meiryo"/>
              </a:rPr>
              <a:t>llama-3.3-70b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343400"/>
            <a:ext cx="2606040" cy="1188720"/>
          </a:xfrm>
          <a:prstGeom prst="roundRect">
            <a:avLst/>
          </a:prstGeom>
          <a:solidFill>
            <a:srgbClr val="C6EFCE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/>
          <a:lstStyle/>
          <a:p>
            <a:pPr algn="ctr"/>
            <a:r>
              <a:rPr sz="1100" b="1">
                <a:solidFill>
                  <a:srgbClr val="262626"/>
                </a:solidFill>
                <a:latin typeface="Meiryo"/>
                <a:ea typeface="Meiryo"/>
              </a:rPr>
              <a:t>LINE Platform</a:t>
            </a:r>
          </a:p>
          <a:p>
            <a:pPr algn="ctr"/>
            <a:r>
              <a:rPr sz="950" b="0">
                <a:solidFill>
                  <a:srgbClr val="262626"/>
                </a:solidFill>
                <a:latin typeface="Meiryo"/>
                <a:ea typeface="Meiryo"/>
              </a:rPr>
              <a:t>Messaging API</a:t>
            </a:r>
          </a:p>
          <a:p>
            <a:pPr algn="ctr"/>
            <a:r>
              <a:rPr sz="950" b="0">
                <a:solidFill>
                  <a:srgbClr val="262626"/>
                </a:solidFill>
                <a:latin typeface="Meiryo"/>
                <a:ea typeface="Meiryo"/>
              </a:rPr>
              <a:t>（push配信）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89720" y="4343400"/>
            <a:ext cx="2651760" cy="118872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/>
          <a:lstStyle/>
          <a:p>
            <a:pPr algn="ctr"/>
            <a:r>
              <a:rPr sz="1200" b="1">
                <a:solidFill>
                  <a:srgbClr val="262626"/>
                </a:solidFill>
                <a:latin typeface="Meiryo"/>
                <a:ea typeface="Meiryo"/>
              </a:rPr>
              <a:t>スマホ</a:t>
            </a:r>
          </a:p>
          <a:p>
            <a:pPr algn="ctr"/>
            <a:r>
              <a:rPr sz="1050" b="0">
                <a:solidFill>
                  <a:srgbClr val="262626"/>
                </a:solidFill>
                <a:latin typeface="Meiryo"/>
                <a:ea typeface="Meiryo"/>
              </a:rPr>
              <a:t>LINEアプリ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89720" y="5715000"/>
            <a:ext cx="2651760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/>
          <a:lstStyle/>
          <a:p>
            <a:pPr algn="ctr"/>
            <a:r>
              <a:rPr sz="1200" b="1">
                <a:solidFill>
                  <a:srgbClr val="262626"/>
                </a:solidFill>
                <a:latin typeface="Meiryo"/>
                <a:ea typeface="Meiryo"/>
              </a:rPr>
              <a:t>自分（利用者）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874519" y="1691640"/>
            <a:ext cx="338329" cy="64008"/>
          </a:xfrm>
          <a:prstGeom prst="line">
            <a:avLst/>
          </a:prstGeom>
          <a:ln w="22225">
            <a:solidFill>
              <a:srgbClr val="5B5B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37160" y="2084831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B03020"/>
                </a:solidFill>
                <a:latin typeface="Meiryo"/>
                <a:ea typeface="Meiryo"/>
              </a:rPr>
              <a:t>git push →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874519" y="4133087"/>
            <a:ext cx="338329" cy="0"/>
          </a:xfrm>
          <a:prstGeom prst="line">
            <a:avLst/>
          </a:prstGeom>
          <a:ln w="28575">
            <a:solidFill>
              <a:srgbClr val="C55A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5720" y="490118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B03020"/>
                </a:solidFill>
                <a:latin typeface="Meiryo"/>
                <a:ea typeface="Meiryo"/>
              </a:rPr>
              <a:t>workflow_dispatch →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913632" y="2724912"/>
            <a:ext cx="0" cy="219456"/>
          </a:xfrm>
          <a:prstGeom prst="line">
            <a:avLst/>
          </a:prstGeom>
          <a:ln w="22225">
            <a:solidFill>
              <a:srgbClr val="BF8F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5605272" y="1965960"/>
            <a:ext cx="612648" cy="146304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440680" y="2331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B03020"/>
                </a:solidFill>
                <a:latin typeface="Meiryo"/>
                <a:ea typeface="Meiryo"/>
              </a:rPr>
              <a:t>①取得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5605272" y="3456432"/>
            <a:ext cx="612648" cy="338328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440680" y="38404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B03020"/>
                </a:solidFill>
                <a:latin typeface="Meiryo"/>
                <a:ea typeface="Meiryo"/>
              </a:rPr>
              <a:t>②選定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605272" y="4754880"/>
            <a:ext cx="612648" cy="18288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440680" y="50749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B03020"/>
                </a:solidFill>
                <a:latin typeface="Meiryo"/>
                <a:ea typeface="Meiryo"/>
              </a:rPr>
              <a:t>③push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823960" y="4937760"/>
            <a:ext cx="365760" cy="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503920" y="45262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B03020"/>
                </a:solidFill>
                <a:latin typeface="Meiryo"/>
                <a:ea typeface="Meiryo"/>
              </a:rPr>
              <a:t>④配信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0515600" y="5532120"/>
            <a:ext cx="0" cy="18288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74320" y="6419088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595959"/>
                </a:solidFill>
                <a:latin typeface="Meiryo"/>
                <a:ea typeface="Meiryo"/>
              </a:rPr>
              <a:t>※ 起動は外部スケジューラ(cron-job.org)から workflow_dispatch API で行う（GitHub schedule は時刻保証がなく不採用）／ 配信は一方向 push ／ PC の常時起動は不要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