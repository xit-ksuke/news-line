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Meiryo"/>
                <a:ea typeface="Meiryo"/>
              </a:rPr>
              <a:t>システム構成図 — LINEニュース配信ボット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65960" y="868680"/>
            <a:ext cx="3886200" cy="5623560"/>
          </a:xfrm>
          <a:prstGeom prst="roundRect">
            <a:avLst/>
          </a:prstGeom>
          <a:solidFill>
            <a:srgbClr val="EFF3F7"/>
          </a:solidFill>
          <a:ln w="15875">
            <a:solidFill>
              <a:srgbClr val="9D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300" b="1">
                <a:solidFill>
                  <a:srgbClr val="262626"/>
                </a:solidFill>
                <a:latin typeface="Meiryo"/>
                <a:ea typeface="Meiryo"/>
              </a:rPr>
              <a:t>GitHub（クラウド）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12848" y="1444752"/>
            <a:ext cx="3392424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リポジトリ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news_bot.py / workflow.yml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12848" y="2212848"/>
            <a:ext cx="3392424" cy="566928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Secrets（APIキー保管）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2834640"/>
            <a:ext cx="33924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毎日3回：07:30 / 12:00 / 18:00 JST（cron起動）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3163824"/>
            <a:ext cx="3392424" cy="3127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GitHub Actions（実行環境）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news_bot.py を実行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/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① 記事取得（RSS）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② 選定・要約（Groq）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③ 整形 → push（LINE）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3246120"/>
            <a:ext cx="1508760" cy="105156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開発者PC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（ローカル）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2606040" cy="118872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RSS配信元（複数）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NHK / ITmedia / はてブ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GIGAZINE / Google News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606040" cy="1188720"/>
          </a:xfrm>
          <a:prstGeom prst="roundRect">
            <a:avLst/>
          </a:prstGeom>
          <a:solidFill>
            <a:srgbClr val="E4DFEC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Groq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LLM：記事選定・要約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llama-3.3-70b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2606040" cy="1188720"/>
          </a:xfrm>
          <a:prstGeom prst="roundRect">
            <a:avLst/>
          </a:prstGeom>
          <a:solidFill>
            <a:srgbClr val="C6EFCE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100" b="1">
                <a:solidFill>
                  <a:srgbClr val="262626"/>
                </a:solidFill>
                <a:latin typeface="Meiryo"/>
                <a:ea typeface="Meiryo"/>
              </a:rPr>
              <a:t>LINE Platform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Messaging API</a:t>
            </a:r>
          </a:p>
          <a:p>
            <a:pPr algn="ctr"/>
            <a:r>
              <a:rPr sz="950" b="0">
                <a:solidFill>
                  <a:srgbClr val="262626"/>
                </a:solidFill>
                <a:latin typeface="Meiryo"/>
                <a:ea typeface="Meiryo"/>
              </a:rPr>
              <a:t>（push配信）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4343400"/>
            <a:ext cx="2651760" cy="118872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スマホ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eiryo"/>
                <a:ea typeface="Meiryo"/>
              </a:rPr>
              <a:t>LINEアプリ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715000"/>
            <a:ext cx="26517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00" b="1">
                <a:solidFill>
                  <a:srgbClr val="262626"/>
                </a:solidFill>
                <a:latin typeface="Meiryo"/>
                <a:ea typeface="Meiryo"/>
              </a:rPr>
              <a:t>自分（利用者）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691640" y="1810512"/>
            <a:ext cx="521208" cy="1801368"/>
          </a:xfrm>
          <a:prstGeom prst="line">
            <a:avLst/>
          </a:prstGeom>
          <a:ln w="22225">
            <a:solidFill>
              <a:srgbClr val="5B5B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2331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git push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13632" y="2779776"/>
            <a:ext cx="0" cy="384048"/>
          </a:xfrm>
          <a:prstGeom prst="line">
            <a:avLst/>
          </a:prstGeom>
          <a:ln w="22225">
            <a:solidFill>
              <a:srgbClr val="BF8F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05272" y="1965960"/>
            <a:ext cx="612648" cy="14630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40680" y="2331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①取得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605272" y="3456432"/>
            <a:ext cx="612648" cy="338328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40680" y="3840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②選定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05272" y="4754880"/>
            <a:ext cx="612648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4068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③push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23960" y="4937760"/>
            <a:ext cx="36576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3920" y="4526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03020"/>
                </a:solidFill>
                <a:latin typeface="Meiryo"/>
                <a:ea typeface="Meiryo"/>
              </a:rPr>
              <a:t>④配信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515600" y="5532120"/>
            <a:ext cx="0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4320" y="641908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Meiryo"/>
                <a:ea typeface="Meiryo"/>
              </a:rPr>
              <a:t>※ 配信は一方向の push（Webhook 受信は不要） ／ 実行の起点は GitHub 上の cron ／ PC の常時起動は不要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