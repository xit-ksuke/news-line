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Meiryo"/>
                <a:ea typeface="Meiryo"/>
              </a:rPr>
              <a:t>システム構成図 — LINEニュース配信ボット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868680"/>
            <a:ext cx="3886200" cy="5623560"/>
          </a:xfrm>
          <a:prstGeom prst="roundRect">
            <a:avLst/>
          </a:prstGeom>
          <a:solidFill>
            <a:srgbClr val="EFF3F7"/>
          </a:solidFill>
          <a:ln w="15875">
            <a:solidFill>
              <a:srgbClr val="9D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300" b="1">
                <a:solidFill>
                  <a:srgbClr val="262626"/>
                </a:solidFill>
                <a:latin typeface="Meiryo"/>
                <a:ea typeface="Meiryo"/>
              </a:rPr>
              <a:t>GitHub（クラウド）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12848" y="1444752"/>
            <a:ext cx="3392424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リポジトリ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news_bot.py / workflow.yml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12848" y="2176272"/>
            <a:ext cx="3392424" cy="54864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Secrets（APIキー保管）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12848" y="2944368"/>
            <a:ext cx="3392424" cy="3346704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GitHub Actions（実行環境）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workflow_dispatch で起動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news_bot.py を実行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/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① 記事取得（RSS）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② 選定・要約（Groq）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③ 整形 → push（LINE）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" y="1234440"/>
            <a:ext cx="1737360" cy="86868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開発者PC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（ローカル）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" y="3383280"/>
            <a:ext cx="1737360" cy="150876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cron-job.org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（外部スケジューラ）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/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07:30 / 12:00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17:50 JST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2606040" cy="11887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RSS配信元（複数）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NHK / ITmedia / はてブ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GIGAZINE / Google News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606040" cy="1188720"/>
          </a:xfrm>
          <a:prstGeom prst="roundRect">
            <a:avLst/>
          </a:prstGeom>
          <a:solidFill>
            <a:srgbClr val="E4DFE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Groq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LLM：記事選定・要約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llama-3.3-70b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2606040" cy="118872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LINE Platform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Messaging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（push配信）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4343400"/>
            <a:ext cx="2651760" cy="11887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スマホ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LINEアプリ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715000"/>
            <a:ext cx="26517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自分（利用者）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74519" y="1691640"/>
            <a:ext cx="338329" cy="64008"/>
          </a:xfrm>
          <a:prstGeom prst="line">
            <a:avLst/>
          </a:prstGeom>
          <a:ln w="22225">
            <a:solidFill>
              <a:srgbClr val="5B5B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7160" y="208483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git push →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74519" y="4133087"/>
            <a:ext cx="338329" cy="0"/>
          </a:xfrm>
          <a:prstGeom prst="line">
            <a:avLst/>
          </a:prstGeom>
          <a:ln w="28575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" y="49011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B03020"/>
                </a:solidFill>
                <a:latin typeface="Meiryo"/>
                <a:ea typeface="Meiryo"/>
              </a:rPr>
              <a:t>workflow_dispatch 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13632" y="2724912"/>
            <a:ext cx="0" cy="219456"/>
          </a:xfrm>
          <a:prstGeom prst="line">
            <a:avLst/>
          </a:prstGeom>
          <a:ln w="22225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605272" y="1965960"/>
            <a:ext cx="612648" cy="14630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40680" y="2331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①取得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605272" y="3456432"/>
            <a:ext cx="612648" cy="338328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40680" y="3840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②選定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5272" y="4754880"/>
            <a:ext cx="612648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4068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③push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23960" y="4937760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03920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④配信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15600" y="5532120"/>
            <a:ext cx="0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641908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Meiryo"/>
                <a:ea typeface="Meiryo"/>
              </a:rPr>
              <a:t>※ 起動は外部スケジューラ(cron-job.org)から workflow_dispatch API で行う（GitHub schedule は時刻保証がなく不採用）／ 配信は一方向 push ／ PC の常時起動は不要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62626"/>
                </a:solidFill>
                <a:latin typeface="Meiryo"/>
                <a:ea typeface="Meiryo"/>
              </a:rPr>
              <a:t>商用サービス構成案（無料枠の制限を解消し品質・信頼性を担保）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868680"/>
            <a:ext cx="2011680" cy="123444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マネージドスケジューラ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SLA保証・定時起動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例: EventBridge Scheduler /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Cloud Scheduler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1720" y="868680"/>
            <a:ext cx="1828800" cy="123444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キュー + DLQ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疎結合・再試行・DLQ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例: SQS / Pub-Sub /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Service Bus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868680"/>
            <a:ext cx="2194560" cy="123444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コンピュート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オートスケール・実行管理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例: Lambda / Cloud Run /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Step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868680"/>
            <a:ext cx="2194560" cy="1234440"/>
          </a:xfrm>
          <a:prstGeom prst="roundRect">
            <a:avLst/>
          </a:prstGeom>
          <a:solidFill>
            <a:srgbClr val="E4DFE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AI：有料LLM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高レート上限・フォールバック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例: Claude API / OpenAI /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Gemini / Groq(有料)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868680"/>
            <a:ext cx="2194560" cy="123444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50" b="1">
                <a:solidFill>
                  <a:srgbClr val="262626"/>
                </a:solidFill>
                <a:latin typeface="Meiryo"/>
                <a:ea typeface="Meiryo"/>
              </a:rPr>
              <a:t>配信基盤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配信キュー・レート制御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例: SQS+ワーカー /</a:t>
            </a:r>
          </a:p>
          <a:p>
            <a:pPr algn="ctr"/>
            <a:r>
              <a:rPr sz="900" b="0">
                <a:solidFill>
                  <a:srgbClr val="262626"/>
                </a:solidFill>
                <a:latin typeface="Meiryo"/>
                <a:ea typeface="Meiryo"/>
              </a:rPr>
              <a:t>Cloud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377440"/>
            <a:ext cx="2194560" cy="11887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収集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RSS + 本文全文取得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Firecrawl / Diffbot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newspaper3k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77440"/>
            <a:ext cx="2194560" cy="1188720"/>
          </a:xfrm>
          <a:prstGeom prst="roundRect">
            <a:avLst/>
          </a:prstGeom>
          <a:solidFill>
            <a:srgbClr val="D6EEF0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マネージドDB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履歴・重複排除・購読/設定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DynamoDB / Firestore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Cloud SQL・RDS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2377440"/>
            <a:ext cx="2194560" cy="118872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マルチチャネル配信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LINE有料 / Email / Web Push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LINE / SendGrid・SES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FCM / Twilio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3703320"/>
            <a:ext cx="21945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950" b="1">
                <a:solidFill>
                  <a:srgbClr val="262626"/>
                </a:solidFill>
                <a:latin typeface="Meiryo"/>
                <a:ea typeface="Meiryo"/>
              </a:rPr>
              <a:t>利用者（複数・マルチテナント）</a:t>
            </a:r>
          </a:p>
          <a:p>
            <a:pPr algn="ctr"/>
            <a:r>
              <a:rPr sz="800" b="0">
                <a:solidFill>
                  <a:srgbClr val="262626"/>
                </a:solidFill>
                <a:latin typeface="Meiryo"/>
                <a:ea typeface="Meiryo"/>
              </a:rPr>
              <a:t>認証例: Cognito / Firebase Auth / Auth0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431596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横断的関心事（品質・運用・セキュリティを担保）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" y="4617720"/>
            <a:ext cx="2743200" cy="1234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シークレット管理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自動ローテーション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Secrets Manager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Secret Manager / Vault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4617720"/>
            <a:ext cx="2743200" cy="1234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監視・アラート・ログ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障害検知 → 即時通知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Datadog / CloudWatch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Sentry / PagerDuty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4617720"/>
            <a:ext cx="2743200" cy="1234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CI/CD + IaC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自動デプロイ・stg/prod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GitHub Actions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Terraform / AWS CDK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4617720"/>
            <a:ext cx="2514600" cy="1234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000" b="1">
                <a:solidFill>
                  <a:srgbClr val="262626"/>
                </a:solidFill>
                <a:latin typeface="Meiryo"/>
                <a:ea typeface="Meiryo"/>
              </a:rPr>
              <a:t>セキュリティ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WAF・最小権限IAM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例: AWS WAF / Cloudflare /</a:t>
            </a:r>
          </a:p>
          <a:p>
            <a:pPr algn="ctr"/>
            <a:r>
              <a:rPr sz="850" b="0">
                <a:solidFill>
                  <a:srgbClr val="262626"/>
                </a:solidFill>
                <a:latin typeface="Meiryo"/>
                <a:ea typeface="Meiryo"/>
              </a:rPr>
              <a:t>IAM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48840" y="148590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160520" y="148590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537960" y="148590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15400" y="148590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40680" y="210312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35040" y="2103120"/>
            <a:ext cx="118872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95560" y="210312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95560" y="3566160"/>
            <a:ext cx="0" cy="13716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4320" y="59893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595959"/>
                </a:solidFill>
                <a:latin typeface="Meiryo"/>
                <a:ea typeface="Meiryo"/>
              </a:rPr>
              <a:t>※ 無料枠の制限（レート/通数上限・時刻保証なし・状態を持てない）を解消し、SLA・再試行/DLQ・監視・データ永続化・マルチチャネルで品質を担保。各ボックスの「例」は代表的な製品・サービス名（AWS / GCP / SaaS を横断）。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